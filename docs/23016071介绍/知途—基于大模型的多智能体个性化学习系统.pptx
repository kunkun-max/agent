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3" Type="http://schemas.openxmlformats.org/officeDocument/2006/relationships/image" Target="../media/image2.jpeg"/><Relationship Id="rId7" Type="http://schemas.openxmlformats.org/officeDocument/2006/relationships/image" Target="../media/image25.jpe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jpe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18" Type="http://schemas.openxmlformats.org/officeDocument/2006/relationships/image" Target="../media/image49.png"/><Relationship Id="rId3" Type="http://schemas.openxmlformats.org/officeDocument/2006/relationships/image" Target="../media/image2.jpeg"/><Relationship Id="rId21" Type="http://schemas.openxmlformats.org/officeDocument/2006/relationships/image" Target="../media/image52.sv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17" Type="http://schemas.openxmlformats.org/officeDocument/2006/relationships/image" Target="../media/image48.svg"/><Relationship Id="rId25" Type="http://schemas.openxmlformats.org/officeDocument/2006/relationships/image" Target="../media/image56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24" Type="http://schemas.openxmlformats.org/officeDocument/2006/relationships/image" Target="../media/image55.png"/><Relationship Id="rId5" Type="http://schemas.openxmlformats.org/officeDocument/2006/relationships/image" Target="../media/image36.svg"/><Relationship Id="rId15" Type="http://schemas.openxmlformats.org/officeDocument/2006/relationships/image" Target="../media/image46.svg"/><Relationship Id="rId23" Type="http://schemas.openxmlformats.org/officeDocument/2006/relationships/image" Target="../media/image54.svg"/><Relationship Id="rId10" Type="http://schemas.openxmlformats.org/officeDocument/2006/relationships/image" Target="../media/image41.png"/><Relationship Id="rId19" Type="http://schemas.openxmlformats.org/officeDocument/2006/relationships/image" Target="../media/image50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svg"/><Relationship Id="rId3" Type="http://schemas.openxmlformats.org/officeDocument/2006/relationships/image" Target="../media/image2.jpeg"/><Relationship Id="rId7" Type="http://schemas.openxmlformats.org/officeDocument/2006/relationships/image" Target="../media/image60.svg"/><Relationship Id="rId12" Type="http://schemas.openxmlformats.org/officeDocument/2006/relationships/image" Target="../media/image65.png"/><Relationship Id="rId17" Type="http://schemas.openxmlformats.org/officeDocument/2006/relationships/image" Target="../media/image70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68.sv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80.png"/><Relationship Id="rId3" Type="http://schemas.openxmlformats.org/officeDocument/2006/relationships/image" Target="../media/image2.jpeg"/><Relationship Id="rId7" Type="http://schemas.openxmlformats.org/officeDocument/2006/relationships/image" Target="../media/image74.png"/><Relationship Id="rId12" Type="http://schemas.openxmlformats.org/officeDocument/2006/relationships/image" Target="../media/image7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3.jpeg"/><Relationship Id="rId11" Type="http://schemas.openxmlformats.org/officeDocument/2006/relationships/image" Target="../media/image78.png"/><Relationship Id="rId5" Type="http://schemas.openxmlformats.org/officeDocument/2006/relationships/image" Target="../media/image72.svg"/><Relationship Id="rId10" Type="http://schemas.openxmlformats.org/officeDocument/2006/relationships/image" Target="../media/image77.sv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2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85.svg"/><Relationship Id="rId5" Type="http://schemas.openxmlformats.org/officeDocument/2006/relationships/image" Target="../media/image83.svg"/><Relationship Id="rId10" Type="http://schemas.openxmlformats.org/officeDocument/2006/relationships/image" Target="../media/image84.png"/><Relationship Id="rId4" Type="http://schemas.openxmlformats.org/officeDocument/2006/relationships/image" Target="../media/image82.png"/><Relationship Id="rId9" Type="http://schemas.openxmlformats.org/officeDocument/2006/relationships/image" Target="../media/image7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2.jpe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Relationship Id="rId11" Type="http://schemas.openxmlformats.org/officeDocument/2006/relationships/image" Target="../media/image89.svg"/><Relationship Id="rId5" Type="http://schemas.openxmlformats.org/officeDocument/2006/relationships/image" Target="../media/image70.svg"/><Relationship Id="rId10" Type="http://schemas.openxmlformats.org/officeDocument/2006/relationships/image" Target="../media/image88.png"/><Relationship Id="rId4" Type="http://schemas.openxmlformats.org/officeDocument/2006/relationships/image" Target="../media/image69.png"/><Relationship Id="rId9" Type="http://schemas.openxmlformats.org/officeDocument/2006/relationships/image" Target="../media/image8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svg"/><Relationship Id="rId18" Type="http://schemas.openxmlformats.org/officeDocument/2006/relationships/image" Target="../media/image102.png"/><Relationship Id="rId3" Type="http://schemas.openxmlformats.org/officeDocument/2006/relationships/image" Target="../media/image2.jpeg"/><Relationship Id="rId21" Type="http://schemas.openxmlformats.org/officeDocument/2006/relationships/image" Target="../media/image105.svg"/><Relationship Id="rId7" Type="http://schemas.openxmlformats.org/officeDocument/2006/relationships/image" Target="../media/image75.svg"/><Relationship Id="rId12" Type="http://schemas.openxmlformats.org/officeDocument/2006/relationships/image" Target="../media/image96.png"/><Relationship Id="rId17" Type="http://schemas.openxmlformats.org/officeDocument/2006/relationships/image" Target="../media/image101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0.png"/><Relationship Id="rId20" Type="http://schemas.openxmlformats.org/officeDocument/2006/relationships/image" Target="../media/image10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11" Type="http://schemas.openxmlformats.org/officeDocument/2006/relationships/image" Target="../media/image95.svg"/><Relationship Id="rId5" Type="http://schemas.openxmlformats.org/officeDocument/2006/relationships/image" Target="../media/image91.svg"/><Relationship Id="rId15" Type="http://schemas.openxmlformats.org/officeDocument/2006/relationships/image" Target="../media/image99.svg"/><Relationship Id="rId23" Type="http://schemas.openxmlformats.org/officeDocument/2006/relationships/image" Target="../media/image107.svg"/><Relationship Id="rId10" Type="http://schemas.openxmlformats.org/officeDocument/2006/relationships/image" Target="../media/image94.png"/><Relationship Id="rId19" Type="http://schemas.openxmlformats.org/officeDocument/2006/relationships/image" Target="../media/image103.svg"/><Relationship Id="rId4" Type="http://schemas.openxmlformats.org/officeDocument/2006/relationships/image" Target="../media/image90.png"/><Relationship Id="rId9" Type="http://schemas.openxmlformats.org/officeDocument/2006/relationships/image" Target="../media/image93.svg"/><Relationship Id="rId14" Type="http://schemas.openxmlformats.org/officeDocument/2006/relationships/image" Target="../media/image98.png"/><Relationship Id="rId22" Type="http://schemas.openxmlformats.org/officeDocument/2006/relationships/image" Target="../media/image10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svg"/><Relationship Id="rId3" Type="http://schemas.openxmlformats.org/officeDocument/2006/relationships/image" Target="../media/image2.jpeg"/><Relationship Id="rId7" Type="http://schemas.openxmlformats.org/officeDocument/2006/relationships/image" Target="../media/image109.sv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8.png"/><Relationship Id="rId11" Type="http://schemas.openxmlformats.org/officeDocument/2006/relationships/image" Target="../media/image113.svg"/><Relationship Id="rId5" Type="http://schemas.openxmlformats.org/officeDocument/2006/relationships/image" Target="../media/image72.svg"/><Relationship Id="rId10" Type="http://schemas.openxmlformats.org/officeDocument/2006/relationships/image" Target="../media/image112.png"/><Relationship Id="rId4" Type="http://schemas.openxmlformats.org/officeDocument/2006/relationships/image" Target="../media/image71.png"/><Relationship Id="rId9" Type="http://schemas.openxmlformats.org/officeDocument/2006/relationships/image" Target="../media/image11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2.jpeg"/><Relationship Id="rId7" Type="http://schemas.openxmlformats.org/officeDocument/2006/relationships/image" Target="../media/image1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8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Relationship Id="rId9" Type="http://schemas.openxmlformats.org/officeDocument/2006/relationships/image" Target="../media/image12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70.svg"/><Relationship Id="rId18" Type="http://schemas.openxmlformats.org/officeDocument/2006/relationships/image" Target="../media/image132.png"/><Relationship Id="rId3" Type="http://schemas.openxmlformats.org/officeDocument/2006/relationships/image" Target="../media/image2.jpeg"/><Relationship Id="rId7" Type="http://schemas.openxmlformats.org/officeDocument/2006/relationships/image" Target="../media/image123.svg"/><Relationship Id="rId12" Type="http://schemas.openxmlformats.org/officeDocument/2006/relationships/image" Target="../media/image69.png"/><Relationship Id="rId17" Type="http://schemas.openxmlformats.org/officeDocument/2006/relationships/image" Target="../media/image131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2.png"/><Relationship Id="rId11" Type="http://schemas.openxmlformats.org/officeDocument/2006/relationships/image" Target="../media/image127.svg"/><Relationship Id="rId5" Type="http://schemas.openxmlformats.org/officeDocument/2006/relationships/image" Target="../media/image87.svg"/><Relationship Id="rId15" Type="http://schemas.openxmlformats.org/officeDocument/2006/relationships/image" Target="../media/image129.svg"/><Relationship Id="rId10" Type="http://schemas.openxmlformats.org/officeDocument/2006/relationships/image" Target="../media/image126.png"/><Relationship Id="rId19" Type="http://schemas.openxmlformats.org/officeDocument/2006/relationships/image" Target="../media/image133.svg"/><Relationship Id="rId4" Type="http://schemas.openxmlformats.org/officeDocument/2006/relationships/image" Target="../media/image86.png"/><Relationship Id="rId9" Type="http://schemas.openxmlformats.org/officeDocument/2006/relationships/image" Target="../media/image125.svg"/><Relationship Id="rId14" Type="http://schemas.openxmlformats.org/officeDocument/2006/relationships/image" Target="../media/image1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2.jpeg"/><Relationship Id="rId7" Type="http://schemas.openxmlformats.org/officeDocument/2006/relationships/image" Target="../media/image13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4.png"/><Relationship Id="rId11" Type="http://schemas.openxmlformats.org/officeDocument/2006/relationships/image" Target="../media/image139.svg"/><Relationship Id="rId5" Type="http://schemas.openxmlformats.org/officeDocument/2006/relationships/image" Target="../media/image52.svg"/><Relationship Id="rId10" Type="http://schemas.openxmlformats.org/officeDocument/2006/relationships/image" Target="../media/image138.png"/><Relationship Id="rId4" Type="http://schemas.openxmlformats.org/officeDocument/2006/relationships/image" Target="../media/image51.png"/><Relationship Id="rId9" Type="http://schemas.openxmlformats.org/officeDocument/2006/relationships/image" Target="../media/image13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4064000"/>
            <a:ext cx="1524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1000" y="4572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200" b="0" i="0" u="none" strike="noStrike">
                <a:solidFill>
                  <a:srgbClr val="EEF2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基于大模型的多智能体个性化学习系统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第十五届“中国软件杯”大学生软件设计大赛 · A3赛题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2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0"/>
                </a:srgbClr>
              </a:gs>
              <a:gs pos="50000">
                <a:srgbClr val="818CF8">
                  <a:alpha val="80000"/>
                </a:srgbClr>
              </a:gs>
              <a:gs pos="100000">
                <a:srgbClr val="818CF8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57030">
            <a:off x="1524000" y="259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222500" y="203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项目背景与痛点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22500" y="2603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剖析在线教育行业现状，直击传统教学模式效率低、个性化不足、资源匹配错位的核心痛点。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90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04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57030">
            <a:off x="7112000" y="2597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810500" y="203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10500" y="2603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构建高可用、高扩展的分布式微服务架构，采用云原生技术栈，为业务的稳定运行与快速迭代提供坚实底层支撑。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55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3556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368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57030">
            <a:off x="1524000" y="4248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2222500" y="3683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222500" y="4191000"/>
            <a:ext cx="355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基于多智能体(MAS)技术，实现教学、管理、服务智能体的自主决策与高效协作，优化任务分配与资源调度流程。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355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76200" cy="1460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04000" y="3683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57030">
            <a:off x="7112000" y="4248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810500" y="3683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核心功能展示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810500" y="4191000"/>
            <a:ext cx="355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通过真实场景功能演示，直观呈现智能推荐、学情分析、自动化答疑等核心模块，展示系统解决实际问题的能力。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207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62000" y="5207000"/>
            <a:ext cx="76200" cy="1333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16000" y="533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350892">
            <a:off x="1587500" y="5835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2222500" y="53340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技术创新亮点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2222500" y="5778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深入解析算法模型优化、异构数据融合处理及轻量化部署方案，分享项目的关键技术突破与创新成果。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350000" y="5207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350000" y="5207000"/>
            <a:ext cx="76200" cy="1333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604000" y="5334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50892">
            <a:off x="7175500" y="5835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810500" y="5334000"/>
            <a:ext cx="355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效果数据与总结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810500" y="5778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以真实运营数据验证系统成效，总结项目价值，并对未来产品迭代与行业应用方向进行前瞻性展望。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传统在线教育的三大核心痛点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资源千篇一律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标准化课程无法适配个体差异，“大锅饭”式投喂。学霸觉得太简单，学渣觉得跟不上，中间的学生又觉得不够深入，难以兼顾不同水平的学习需求。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159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70500" y="2133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体系碎片化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知识点零散堆砌，缺乏系统性路径，难以构建完整的知识网络。学生像在沙滩上捡贝壳，学了很多碎片内容，却无法串联，更无法解决实际复杂问题。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159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133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辅导缺交互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91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学生遇到问题难以及时获得个性化解答，答疑通道滞后或形式化。缺乏即时性和针对性的辅导反馈，极大地挫伤了学习的积极性，也降低了知识吸收的效率。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50800" cy="762000"/>
          </a:xfrm>
          <a:prstGeom prst="roundRect">
            <a:avLst>
              <a:gd name="adj" fmla="val 0"/>
            </a:avLst>
          </a:prstGeom>
          <a:solidFill>
            <a:srgbClr val="818C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16000" y="56896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我们希望用AI技术，让每位学生都拥有专属的学习方案。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知途：多智能体驱动的个性化学习系统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048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28600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学生用户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作为学习过程的核心，通过自然语言交互，表达需求与困惑，获取个性化指导。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57290">
            <a:off x="4064053" y="3041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  <a:headEnd type="arrow" w="med" len="med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5080000" y="2032000"/>
            <a:ext cx="3048000" cy="203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0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096000" y="2286000"/>
            <a:ext cx="1905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Orchestrator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0" y="3175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多智能体协同中枢，拆解任务、调度资源，连接用户与底层大模型能力。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57290">
            <a:off x="8382053" y="3041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4" name="AutoShape 14"/>
          <p:cNvSpPr/>
          <p:nvPr/>
        </p:nvSpPr>
        <p:spPr>
          <a:xfrm>
            <a:off x="9271000" y="2032000"/>
            <a:ext cx="2413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398000" y="2159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0414000" y="22225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星火</a:t>
            </a:r>
            <a:b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98000" y="3302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提供强大的自然语言理解与生成能力，为系统提供底层智力支持。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4565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620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5016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335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6维学习画像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90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全方位捕捉学习行为，精准理解用户能力与偏好。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4925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19500" y="5016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0640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7种资源类型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6195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整合图文、视频、习题等多维资源，满足多样化学习需求。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230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0" y="50165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7945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智能路径规划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动态生成最优学习序列，让学习过程清晰、不再迷茫。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953500" y="4889500"/>
            <a:ext cx="2603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80500" y="50165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525000" y="4978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效果评估追踪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080500" y="55245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实时反馈学习成效，持续迭代优化，形成完整的学习闭环。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6413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基于科大讯飞星火大模型 · 多智能体协同架构 · RAG知识增强技术栈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366000" cy="889000"/>
          </a:xfrm>
          <a:prstGeom prst="roundRect">
            <a:avLst>
              <a:gd name="adj" fmla="val 0"/>
            </a:avLst>
          </a:prstGeom>
          <a:solidFill>
            <a:srgbClr val="818CF8">
              <a:alpha val="20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460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第五层：前端展示层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Vue 3 构建，集成 marked 解析、KaTeX 公式渲染与 Mermaid 图表可视化，提供沉浸式交互体验。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9062" r="19062"/>
          <a:stretch>
            <a:fillRect/>
          </a:stretch>
        </p:blipFill>
        <p:spPr>
          <a:xfrm>
            <a:off x="5397500" y="1524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 t="4545" b="4545"/>
          <a:stretch>
            <a:fillRect/>
          </a:stretch>
        </p:blipFill>
        <p:spPr>
          <a:xfrm>
            <a:off x="6223000" y="1524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 t="4545" b="4545"/>
          <a:stretch>
            <a:fillRect/>
          </a:stretch>
        </p:blipFill>
        <p:spPr>
          <a:xfrm>
            <a:off x="7048500" y="1524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62000" y="2540000"/>
            <a:ext cx="7366000" cy="889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26035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第四层：API网关层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 FastAPI 框架，支持 SSE 流式响应输出，集成 Token 鉴权机制，统一管理系统的所有外部接口请求。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 t="4545" b="4545"/>
          <a:stretch>
            <a:fillRect/>
          </a:stretch>
        </p:blipFill>
        <p:spPr>
          <a:xfrm>
            <a:off x="6731000" y="2667000"/>
            <a:ext cx="6985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62000" y="3683000"/>
            <a:ext cx="7366000" cy="825500"/>
          </a:xfrm>
          <a:prstGeom prst="roundRect">
            <a:avLst>
              <a:gd name="adj" fmla="val 0"/>
            </a:avLst>
          </a:prstGeom>
          <a:solidFill>
            <a:srgbClr val="818CF8">
              <a:alpha val="12000"/>
            </a:srgbClr>
          </a:solidFill>
          <a:ln w="12700" cap="flat" cmpd="sng">
            <a:solidFill>
              <a:srgbClr val="818CF8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3746500"/>
            <a:ext cx="685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第三层：调度层 (Orchestrator)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核心的意图识别与任务分发中枢，解析用户请求意图，智能路由至对应 Agent 执行，确保任务流转的高效与精准。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9000" y="4762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第二层：Agent 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 11 个专职 Agent，各司其职，分别处理代码生成、文档撰写、数据分析等特定领域任务，实现专业化分工协作。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572000" y="4699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99000" y="47625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第一层：基础能力层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 LLM 调用、RAG 检索增强、安全内容过滤与 PPT 自动化生成能力，为上层提供坚实技术底座。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 l="15346" r="15346"/>
          <a:stretch>
            <a:fillRect/>
          </a:stretch>
        </p:blipFill>
        <p:spPr>
          <a:xfrm>
            <a:off x="4699000" y="56515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9" name="Connector 19"/>
          <p:cNvCxnSpPr/>
          <p:nvPr/>
        </p:nvCxnSpPr>
        <p:spPr>
          <a:xfrm rot="5390953">
            <a:off x="5969000" y="3803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509000" y="1397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6000" y="1524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080500" y="1498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B/S 架构体系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基于浏览器/服务器模式构建，无需客户端安装，实现多端无缝访问与快速部署迭代。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509000" y="2667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36000" y="2794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080500" y="2768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前后端解耦设计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前端专注交互体验，后端聚焦业务逻辑，接口标准化，支持独立开发、测试与版本更新。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509000" y="3810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36000" y="3937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080500" y="3911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SSE 实时流式响应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 Server-Sent Events 技术，实现内容的实时增量推送，大幅提升用户等待时的交互感知。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509000" y="5080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36000" y="5207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080500" y="51816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混合存储持久化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 SQLite 存储业务数据，ChromaDB 管理向量知识库，兼顾关系型数据与非结构化知识的高效存取。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11个专职Agent · 全流程覆盖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gradFill rotWithShape="1">
              <a:gsLst>
                <a:gs pos="0">
                  <a:srgbClr val="818CF8">
                    <a:alpha val="100000"/>
                  </a:srgbClr>
                </a:gs>
                <a:gs pos="100000">
                  <a:srgbClr val="6366F1">
                    <a:alpha val="10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78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Orchestrator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中央调度器，统筹全局任务分配与协作，保障系统各模块高效协同运行。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3815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572000" y="1778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ProfileAgent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学习分析师，深度挖掘用户学习数据，构建精准画像，为个性化方案提供依据。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001000" y="1651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91500" y="1778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DocAgent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专业课程讲师，基于用户需求生成结构化、体系化的高质量课程文档内容。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MindmapAgent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知识架构师，梳理知识脉络，构建清晰的思维导图，强化知识点间的逻辑关联。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3815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720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QuizAgent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智能出题老师，根据学习进度和重点难点，自动生成适配的练习题与测试卷。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01000" y="304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915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资深编程导师，提供代码示例、调试指导与技术讲解，助力编程能力提升。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ReadingAgent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专业研究馆员，筛选优质文献资料，提供深度阅读建议，拓展知识视野与深度。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3815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5720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PPTAgent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创意课件设计师，将核心知识转化为可视化、富有吸引力的演示文稿与教学素材。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001000" y="4318000"/>
            <a:ext cx="3429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915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PathAgent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专业教育规划师，结合用户目标与现状，定制科学合理、循序渐进的学习路径。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6515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740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TutorAgent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贴心AI助教，实时解答疑问，提供学习陪伴与进度督促。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4381500" y="56515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572000" y="5740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EvalAgent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权威评估专家，多维度分析学习成果，输出客观全面的能力评估报告。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001000" y="5651500"/>
            <a:ext cx="3429000" cy="1016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91500" y="5740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全流程闭环体系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11大Agent协同工作，构建“规划-学习-实践-评估”的完整教育闭环。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多Agent协同工作流程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6858000" cy="1016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879600"/>
            <a:ext cx="5588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用户意图输入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用户发起自然语言请求：“帮我全面学习机器学习”，系统捕捉原始需求信号。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6858000" cy="1016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23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149600"/>
            <a:ext cx="5588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Orchestrator 任务拆解与调度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核心中枢识别意图，调用 generate_all 策略，将综合性任务分解为6个子任务并行/串行处理。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444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DocAgent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梳理知识体系，自动生成结构化的学习讲义文档。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111500" y="431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38500" y="444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6195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MindmapAgent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构建知识图谱与思维导图，可视化展示概念关联。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461000" y="431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88000" y="444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969000" y="441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QuizAgent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根据知识点自动生成配套练习题，强化理解与巩固。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9000" y="5715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270000" y="568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CodeAgent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提供可运行的示例代码片段，辅助动手实践操作。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3111500" y="558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8500" y="5715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3619500" y="568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ReadingAgent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检索领域经典论文与扩展阅读材料，拓展学术视野。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461000" y="5588000"/>
            <a:ext cx="215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88000" y="5715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969000" y="56896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PPTAgent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提炼核心要点，自动生成美观且逻辑清晰的演示课件。</a:t>
            </a:r>
          </a:p>
        </p:txBody>
      </p:sp>
      <p:cxnSp>
        <p:nvCxnSpPr>
          <p:cNvPr id="28" name="Connector 28"/>
          <p:cNvCxnSpPr/>
          <p:nvPr/>
        </p:nvCxnSpPr>
        <p:spPr>
          <a:xfrm rot="5390450">
            <a:off x="5842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382000" y="2032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72500" y="22225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144000" y="2133600"/>
            <a:ext cx="2413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一站式资源生成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单次用户请求，即可自动触发讲义、导图、习题、代码等6类核心学习资源的生成。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382000" y="3683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72500" y="38735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144000" y="3784600"/>
            <a:ext cx="2413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深度个性化画像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基于用户历史行为与知识水平，动态调整内容深度与广度，实现千人千面的学习体验。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8382000" y="52070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72500" y="53975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9144000" y="5308600"/>
            <a:ext cx="24130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RAG技术防幻觉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结合检索增强生成技术，确保所有输出内容有据可依，有效规避模型的事实性错误。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对话式6维学习画像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知识基础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量化评估知识点掌握度，精准定位0-100%的能力区间，构建知识地基。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873500" y="1651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4000" y="184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35500" y="1803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认知风格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识别用户偏好的学习模式，适配视觉、听觉或动手实践等差异化接收方式。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302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49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454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薄弱项诊断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通过对话交互挖掘待提升知识点，聚焦知识盲区，形成针对性提升重点。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873500" y="3302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64000" y="349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35500" y="3454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学习目标锚定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梳理用户短期冲刺与长期发展的学习愿景，为路径规划提供核心导向。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143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105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学习节奏适配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感知用户学习速度快慢，动态调整内容推送密度，匹配舒适的吸收节奏。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873500" y="4953000"/>
            <a:ext cx="2857500" cy="12700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64000" y="5143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635500" y="51054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兴趣方向挖掘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捕捉用户潜在偏好领域，在推荐内容中融入兴趣点，提升学习主动性。</a:t>
            </a:r>
          </a:p>
        </p:txBody>
      </p:sp>
      <p:cxnSp>
        <p:nvCxnSpPr>
          <p:cNvPr id="22" name="Connector 22"/>
          <p:cNvCxnSpPr/>
          <p:nvPr/>
        </p:nvCxnSpPr>
        <p:spPr>
          <a:xfrm rot="5390450">
            <a:off x="4699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7239000" y="1651000"/>
            <a:ext cx="4318000" cy="317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366F1">
                  <a:alpha val="25000"/>
                </a:srgbClr>
              </a:gs>
              <a:gs pos="100000">
                <a:srgbClr val="818CF8">
                  <a:alpha val="10000"/>
                </a:srgbClr>
              </a:gs>
            </a:gsLst>
            <a:lin ang="2700000"/>
          </a:gradFill>
          <a:ln w="12700" cap="flat" cmpd="sng">
            <a:solidFill>
              <a:srgbClr val="818CF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93000" y="1905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255000" y="1905000"/>
            <a:ext cx="304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用户知识图谱可视化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1459">
            <a:off x="7493011" y="2787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493000" y="3048000"/>
            <a:ext cx="381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以交互式图谱形式，动态展示用户在不同知识点上的掌握程度、关联关系与进阶路径。系统实时聚合数据，让抽象的能力模型变得直观可感，为个性化推荐提供精准依据。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5207000"/>
            <a:ext cx="431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429500" y="5334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无需用户填写繁琐问卷，ProfileAgent 在自然对话交互中自动采集、分析并构建画像，让建模过程无感、高效且精准。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功能二：多智能体资源生成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AI生成Markdown格式讲义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1016008" y="253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9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支持LaTeX数学公式渲染与Mermaid图表自动生成，将复杂的知识逻辑转化为结构化、可视化的文档内容，提升阅读与理解效率。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064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4165600"/>
            <a:ext cx="1968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$$E=mc^2$$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LaTeX 数学公式支持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65500" y="4064000"/>
            <a:ext cx="22225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492500" y="4165600"/>
            <a:ext cx="1968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graph TD; A--&gt;B; A--&gt;C;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Mermaid 流程图渲染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477000" y="1651000"/>
            <a:ext cx="1600200" cy="330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190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04000" y="2667000"/>
            <a:ext cx="1346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课程讲义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32430">
            <a:off x="6604030" y="32956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3556000"/>
            <a:ext cx="1346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自动整合知识点，生成含公式、图表的结构化Markdown讲义，逻辑清晰易读。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04200" y="1651000"/>
            <a:ext cx="1600200" cy="330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 l="4603" r="4603"/>
          <a:stretch>
            <a:fillRect/>
          </a:stretch>
        </p:blipFill>
        <p:spPr>
          <a:xfrm>
            <a:off x="8305800" y="1905000"/>
            <a:ext cx="1397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267700" y="3302000"/>
            <a:ext cx="147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思维导图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67700" y="3810000"/>
            <a:ext cx="1473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构建知识树状网络，可视化呈现概念关联，强化整体认知框架。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931400" y="1651000"/>
            <a:ext cx="1600200" cy="330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1900" y="1905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994900" y="2667000"/>
            <a:ext cx="1473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智能习题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32430">
            <a:off x="9994930" y="32956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994900" y="3556000"/>
            <a:ext cx="1473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针对薄弱点生成选择、填空与简答题，附带详细解析，巩固学习效果。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588000"/>
            <a:ext cx="10769600" cy="762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818C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816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524000" y="5740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流式实时输出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即输即显，提升交互体验</a:t>
            </a:r>
          </a:p>
        </p:txBody>
      </p:sp>
      <p:cxnSp>
        <p:nvCxnSpPr>
          <p:cNvPr id="29" name="Connector 29"/>
          <p:cNvCxnSpPr/>
          <p:nvPr/>
        </p:nvCxnSpPr>
        <p:spPr>
          <a:xfrm rot="5314074">
            <a:off x="3683000" y="5962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91000" y="58166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4699000" y="5740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多格式兼容渲染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/ LaTeX / Mermaid</a:t>
            </a:r>
          </a:p>
        </p:txBody>
      </p:sp>
      <p:cxnSp>
        <p:nvCxnSpPr>
          <p:cNvPr id="32" name="Connector 32"/>
          <p:cNvCxnSpPr/>
          <p:nvPr/>
        </p:nvCxnSpPr>
        <p:spPr>
          <a:xfrm rot="5314074">
            <a:off x="6858000" y="5962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3" name="Picture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66000" y="5816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874000" y="57404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知识图谱自动构建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从知识点到结构化资源的完整闭环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更多资源类型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159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133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代码实操案例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795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3048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由CodeAgent生成完整可运行的代码片段，并附带逐段详细讲解，让抽象的编程概念落地，帮助用户从理论快速过渡到实践操作。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905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905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2159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29500" y="2133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拓展阅读推荐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731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3048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ReadingAgent 基于知识点匹配领域经典论文与深度文章，标注难度评级并给出推荐理由，为不同水平的用户定制进阶学习路径。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445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4419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PPT课件生成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79509" y="513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334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PPTAgent 自动生成适配深色模式的专业课件，内置代码高亮图片与结构化排版，让知识分享与课程准备的效率大幅提升。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13500" y="4191000"/>
            <a:ext cx="76200" cy="196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44450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29500" y="44196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一键全套资源协同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731009" y="513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731000" y="5334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一键触发6个Agent协同工作流，自动生成包含讲义、导图、习题、代码、阅读与PPT的完整学习包，构建闭环知识体系。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功能三：个性化学习路径规划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个性化学习路径图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316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2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以可视化图谱清晰展示所有知识点节点，直观呈现前置依赖关系、预估学习时长及当前进度，让学习过程有迹可循，方向明确。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930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基于知识图谱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603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深度分析知识点间的前置依赖与逻辑关联，构建科学、系统的知识网络体系。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080500" y="1778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196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842500" y="1930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节点信息丰富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271000" y="2603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每个节点聚合知识点详情、参考时长、核心资源与学习目标，信息维度完整统一。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55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3746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708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即点即学模式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4381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点击任意节点即可实时生成适配的学习资源，无需额外检索，快速切入学习状态。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3556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000" y="3746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842500" y="3708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学习状态持久化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71000" y="43815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支持多课程并行推进，自动记录学习进度与历史轨迹，跨设备同步，随时续学。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715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58674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PathAgent 根据用户画像智能规划最优路线，无论基础深浅，都能精准匹配起点，让学习循序渐进。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功能四：AI助教“小智”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1930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1879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确认理解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倾听用户问题，精准定位知识盲点与困惑点。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2603500" cy="952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31369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0861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一句话总结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用最简洁语言概括核心，先建立整体认知框架。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000" y="4343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292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直观类比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借用生活实例打比方，将抽象概念具象化理解。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556000" y="1778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83000" y="1930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64000" y="1879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详细讲解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逻辑清晰拆解步骤，层层递进剖析原理与过程。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556000" y="2984500"/>
            <a:ext cx="2603500" cy="952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83000" y="3136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064000" y="30861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05. 图示辅助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调用可视化图示工具，让复杂结构一目了然。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556000" y="4191000"/>
            <a:ext cx="2603500" cy="952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83000" y="4343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064000" y="42926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06. 代码/公式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提供精准代码示例或公式推导，夯实专业基础。</a:t>
            </a:r>
          </a:p>
        </p:txBody>
      </p:sp>
      <p:cxnSp>
        <p:nvCxnSpPr>
          <p:cNvPr id="22" name="Connector 22"/>
          <p:cNvCxnSpPr/>
          <p:nvPr/>
        </p:nvCxnSpPr>
        <p:spPr>
          <a:xfrm rot="5387722">
            <a:off x="4572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04000" y="1778000"/>
            <a:ext cx="48260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6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58000" y="2032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2032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与AI助教“小智”的对话界面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110">
            <a:off x="6858009" y="2787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858000" y="30480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拒绝枯燥灌输，模拟“学霸讲题”的引导式教学模式。它会像朋友一样提问、启发，而不是直接给出答案，让你在互动中主动思考，真正掌握解题思路。最后通过“检验理解”闭环，确保学习效果落地。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651500"/>
            <a:ext cx="34671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52500" y="5842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460500" y="57404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亲切口语化交互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对话自然流畅，就像和身边同学讨论问题。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4394200" y="5651500"/>
            <a:ext cx="34671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84700" y="58420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5092700" y="57404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动态调整讲解深度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基于学习画像，智能匹配最适合你的讲解粒度。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026400" y="5651500"/>
            <a:ext cx="34671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16900" y="5842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724900" y="57404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陪伴式学霸引导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7x24小时在线，随时解答疑惑，陪你攻克难关。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功能五：5维学习效果评估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82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学习效果评估雷达图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0110">
            <a:off x="1016009" y="304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302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通过雷达图直观聚合用户在知识、实践、投入等维度的量化数据，形成可视化的能力模型，让用户清晰认知当前能力短板与优势领域，为后续学习路径提供科学指引。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7722">
            <a:off x="4318000" y="3422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0" y="165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1803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知识掌握度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基于知识点覆盖率、答题正确率与遗忘曲线分析，量化知识储备深度。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080500" y="1651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71000" y="184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779000" y="1803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实践应用力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结合实操任务完成度、案例分析质量，评估知识迁移与实际解决问题的能力。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3048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3238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3200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学习投入度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统计学习时长、互动频次及资源访问深度，多维度反映用户的学习积极性。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080500" y="3048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71000" y="3238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79000" y="32004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进步趋势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追踪阶段性能力变化曲线，识别成长速率与关键瓶颈期，预判未来潜力。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350000" y="4445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F43F5E">
              <a:alpha val="10000"/>
            </a:srgbClr>
          </a:solidFill>
          <a:ln w="12700" cap="flat" cmpd="sng">
            <a:solidFill>
              <a:srgbClr val="F43F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4635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48500" y="4572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风险预警：潜在问题识别与干预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AI算法实时捕捉学习动力不足、知识断层等风险信号，及时触发干预机制，防止问题积累。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62000" y="57785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62000" y="5778500"/>
            <a:ext cx="50800" cy="7620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6000" y="5880100"/>
            <a:ext cx="1041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EvalAgent 核心机制：基于用户画像数据、全量学习聊天记录与资源交互行为数据进行交叉分析，生成改进建议优先级排序，并支持历史趋势对比，完整还原学习成长轨迹。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技术创新亮点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3368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66800" y="3175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安全护栏架构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769">
            <a:off x="1066815" y="3803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40005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EF2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构建输入+输出双向敏感词过滤机制，结合Prompt注入实时检测，严格遵循最小权限原则，全方位保障系统交互的安全性与合规性。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1700" y="23368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711700" y="3175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RAG防幻觉机制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769">
            <a:off x="4711715" y="3803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711700" y="40005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EF2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基于ChromaDB进行高效向量检索，融合课程专属知识库增强模型理解，所有生成内容均支持溯源引用，彻底解决大模型产生的幻觉问题。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6600" y="23368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56600" y="3175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实时流式交互体验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769">
            <a:off x="8356615" y="3803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56600" y="4000500"/>
            <a:ext cx="2768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EF2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采用SSE实现内容流式输出，搭配沉浸式打字机动画，同时支持Mermaid图表与LaTeX公式的实时渲染，带来流畅、直观的用户反馈。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技术细节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177">
            <a:off x="3873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01. 内容安全过滤策略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080000" cy="17145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92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输入侧：精准清洗与初筛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952509" y="323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365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执行去干扰字符、子串匹配，设定词长≥3的阈值，并实施“单类命中即拦截”机制，从源头阻断违规风险，保障输入纯净。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080000" cy="17145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76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724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输出侧：多维校验与放行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952509" y="526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通过词边界匹配技术精准定位风险词，采用“多类命中≥2”才拦截的策略，避免误判，在严守安全底线的同时保障内容自然流畅。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1651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02. RAG 知识增强全流程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2540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2667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540500" y="3175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上传Markdown格式课程资料，完成结构化数据导入。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53400" y="2540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80400" y="2667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280400" y="3175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智能切分长文本，生成语义连贯的文本片段，优化处理效率。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893300" y="2540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818CF8">
              <a:alpha val="1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020300" y="2667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020300" y="3175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将文本Embedding转化为向量，存入ChromaDB，构建知识底座。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572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6366F1">
              <a:alpha val="1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4699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540500" y="5207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语义检索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根据用户提问，从知识库中召回最相关的Top-K知识片段。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53400" y="4572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6366F1">
              <a:alpha val="1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80400" y="46990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280400" y="5207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Prompt拼接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将问题与检索到的知识片段融合，构造高质量的上下文提示词。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893300" y="4572000"/>
            <a:ext cx="1587500" cy="1587500"/>
          </a:xfrm>
          <a:prstGeom prst="roundRect">
            <a:avLst>
              <a:gd name="adj" fmla="val 0"/>
            </a:avLst>
          </a:prstGeom>
          <a:solidFill>
            <a:srgbClr val="6366F1">
              <a:alpha val="1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20300" y="46990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0020300" y="5207000"/>
            <a:ext cx="133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可控生成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基于知识库内容生成回答，有效防止模型幻觉，确保结果可溯源。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关键成果数据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566">
            <a:off x="9525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3048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专职业务Agent构建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84700" y="1968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种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566">
            <a:off x="45847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84700" y="3048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多模态学习资源类型支持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77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216900" y="1968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维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566">
            <a:off x="82169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216900" y="3048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全视角用户学习画像建模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127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维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566">
            <a:off x="952513" y="507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52500" y="5207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全流程学习效果评估体系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94200" y="3937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584700" y="4127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200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566">
            <a:off x="4584713" y="507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584700" y="5207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安全护栏敏感词实时拦截覆盖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26400" y="3937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216900" y="41275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类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566">
            <a:off x="8216913" y="5073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216900" y="52070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全场景内容安全风险分类管控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基于科大讯飞星火大模型</a:t>
            </a: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开源组件构建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818CF8">
              <a:alpha val="15000"/>
            </a:srgbClr>
          </a:solidFill>
          <a:ln w="12700" cap="flat" cmpd="sng">
            <a:solidFill>
              <a:srgbClr val="818C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5B4FC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▍核心成果：体系构建完成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18CF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870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多智能体协同框架落地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搭建完整的协作架构，实现任务的智能分工、调度与执行，保障系统高效运转。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886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多维资源与精准画像体系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覆盖7种核心资源类型，基于对话交互构建6维用户画像，实现需求的精准捕捉与匹配。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95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安全保障与评估闭环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部署RAG防幻觉与安全护栏机制；建立“生成-学习-评估”闭环，持续迭代优化服务质量。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6366F1">
              <a:alpha val="1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3C5FD"/>
                </a:solidFill>
                <a:latin typeface="Noto Sans SC"/>
                <a:ea typeface="Noto Sans SC"/>
                <a:cs typeface="Noto Sans SC"/>
                <a:sym typeface="Noto Sans SC"/>
              </a:rPr>
              <a:t>▍未来展望：持续创新演进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366F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92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2870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接入自然语音交互体验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打造沉浸式、无障碍的语音对话界面，让交互更自然流畅，降低用户的使用门槛。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8862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引入强化学习优化路径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利用强化学习算法，根据用户反馈动态调整资源生成与推荐策略，提升服务的精准度。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016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95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拓展知识库与多模态生成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覆盖更多学科领域知识库，并探索图文、音视频等多模态资源的自动生成技术。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6159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622300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以技术为驱动，从“可用”迈向“好用”，持续探索AI赋能教育的更多可能性。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461000" y="4318000"/>
            <a:ext cx="1270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818CF8">
                  <a:alpha val="100000"/>
                </a:srgbClr>
              </a:gs>
              <a:gs pos="100000">
                <a:srgbClr val="6366F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000" b="0" i="0" u="none" strike="noStrike" dirty="0" err="1">
                <a:solidFill>
                  <a:srgbClr val="EFF6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知途</a:t>
            </a:r>
            <a:r>
              <a:rPr lang="en-US" sz="2000" b="0" i="0" u="none" strike="noStrike" dirty="0">
                <a:solidFill>
                  <a:srgbClr val="EFF6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2000" b="0" i="0" u="none" strike="noStrike" dirty="0" err="1">
                <a:solidFill>
                  <a:srgbClr val="EFF6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让每个人都有专属的学习方案</a:t>
            </a:r>
            <a:endParaRPr lang="en-US" sz="2000" b="0" i="0" u="none" strike="noStrike" dirty="0">
              <a:solidFill>
                <a:srgbClr val="EFF6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16666"/>
              </a:lnSpc>
              <a:defRPr/>
            </a:pPr>
            <a:r>
              <a:rPr lang="en-US" sz="12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</a:t>
            </a:r>
            <a:r>
              <a:rPr lang="en-US" altLang="zh-CN" sz="12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ithub</a:t>
            </a:r>
            <a:r>
              <a:rPr lang="zh-CN" altLang="en-US" sz="1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https://</a:t>
            </a:r>
            <a:r>
              <a:rPr lang="en-US" altLang="zh-CN" sz="12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github.com</a:t>
            </a:r>
            <a:r>
              <a:rPr lang="en-US" altLang="zh-CN" sz="1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12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kunkun</a:t>
            </a:r>
            <a:r>
              <a:rPr lang="en-US" altLang="zh-CN" sz="1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-max/</a:t>
            </a:r>
            <a:r>
              <a:rPr lang="en-US" altLang="zh-CN" sz="12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agent.git</a:t>
            </a:r>
            <a:endParaRPr lang="en-US" sz="1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1248</Words>
  <Application>Microsoft Office PowerPoint</Application>
  <PresentationFormat>宽屏</PresentationFormat>
  <Paragraphs>294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Microsoft YaHei UI</vt:lpstr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Alie</dc:creator>
  <cp:lastModifiedBy>日锴 何</cp:lastModifiedBy>
  <cp:revision>3</cp:revision>
  <dcterms:modified xsi:type="dcterms:W3CDTF">2026-06-23T07:23:50Z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{"Label":"1","ContentProducer":"001191110102MACQD9K64010000","ProduceID":"7650423346288282598","ReservedCode1":"","ContentPropagator":"","PropagateID":"","ReservedCode2":""}</vt:lpwstr>
  </property>
</Properties>
</file>