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19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636" y="11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05.06.2026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 dirty="0">
                <a:solidFill>
                  <a:srgbClr val="000000"/>
                </a:solidFill>
              </a:rPr>
              <a:t>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Relationship Id="rId14" Type="http://schemas.openxmlformats.org/officeDocument/2006/relationships/image" Target="../media/image15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9.jpeg"/><Relationship Id="rId5" Type="http://schemas.openxmlformats.org/officeDocument/2006/relationships/image" Target="../media/image18.jpeg"/><Relationship Id="rId4" Type="http://schemas.openxmlformats.org/officeDocument/2006/relationships/image" Target="../media/image17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13" Type="http://schemas.openxmlformats.org/officeDocument/2006/relationships/image" Target="../media/image34.png"/><Relationship Id="rId3" Type="http://schemas.openxmlformats.org/officeDocument/2006/relationships/image" Target="../media/image22.png"/><Relationship Id="rId7" Type="http://schemas.openxmlformats.org/officeDocument/2006/relationships/image" Target="../media/image28.png"/><Relationship Id="rId12" Type="http://schemas.openxmlformats.org/officeDocument/2006/relationships/image" Target="../media/image33.sv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37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7.svg"/><Relationship Id="rId11" Type="http://schemas.openxmlformats.org/officeDocument/2006/relationships/image" Target="../media/image32.png"/><Relationship Id="rId5" Type="http://schemas.openxmlformats.org/officeDocument/2006/relationships/image" Target="../media/image26.png"/><Relationship Id="rId15" Type="http://schemas.openxmlformats.org/officeDocument/2006/relationships/image" Target="../media/image36.png"/><Relationship Id="rId10" Type="http://schemas.openxmlformats.org/officeDocument/2006/relationships/image" Target="../media/image31.svg"/><Relationship Id="rId4" Type="http://schemas.openxmlformats.org/officeDocument/2006/relationships/image" Target="../media/image23.svg"/><Relationship Id="rId9" Type="http://schemas.openxmlformats.org/officeDocument/2006/relationships/image" Target="../media/image30.png"/><Relationship Id="rId14" Type="http://schemas.openxmlformats.org/officeDocument/2006/relationships/image" Target="../media/image35.sv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2921000"/>
            <a:ext cx="10160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6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智学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4318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800" b="0" i="0" u="none" strike="noStrike" dirty="0" err="1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个性化学习多</a:t>
            </a:r>
            <a:r>
              <a:rPr lang="en-US" altLang="zh-CN" sz="2800" b="0" i="0" u="none" strike="noStrike" dirty="0" err="1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agent</a:t>
            </a:r>
            <a:r>
              <a:rPr lang="en-US" sz="2800" b="0" i="0" u="none" strike="noStrike" dirty="0" err="1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系统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1016000" y="5207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333"/>
              </a:lnSpc>
              <a:defRPr/>
            </a:pP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目录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3302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524000"/>
            <a:ext cx="33020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952500" y="1778000"/>
            <a:ext cx="76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778000" y="1841500"/>
            <a:ext cx="215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项目背景与痛点分析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52500" y="2603500"/>
            <a:ext cx="292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分析传统在线教育的普遍痛点，阐述项目出发点。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445000" y="1524000"/>
            <a:ext cx="3302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4445000" y="1524000"/>
            <a:ext cx="33020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4635500" y="1778000"/>
            <a:ext cx="76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5461000" y="1841500"/>
            <a:ext cx="215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系统架构设计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635500" y="2603500"/>
            <a:ext cx="292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介绍为实现个性化学习而设计的多智能体分层架构。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128000" y="1524000"/>
            <a:ext cx="3302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8128000" y="1524000"/>
            <a:ext cx="33020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8318500" y="1778000"/>
            <a:ext cx="76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9144000" y="1841500"/>
            <a:ext cx="215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核心功能展示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318500" y="2603500"/>
            <a:ext cx="292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展示系统目前已实现的核心功能模块。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889000" y="4191000"/>
            <a:ext cx="5080000" cy="2032000"/>
          </a:xfrm>
          <a:prstGeom prst="roundRect">
            <a:avLst>
              <a:gd name="adj" fmla="val 625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889000" y="4191000"/>
            <a:ext cx="50800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1079500" y="4445000"/>
            <a:ext cx="88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2095500" y="4508500"/>
            <a:ext cx="368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技术创新亮点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1079500" y="5207000"/>
            <a:ext cx="469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分享项目在技术实现上的探索与尝试。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223000" y="4191000"/>
            <a:ext cx="5080000" cy="2032000"/>
          </a:xfrm>
          <a:prstGeom prst="roundRect">
            <a:avLst>
              <a:gd name="adj" fmla="val 625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6223000" y="4191000"/>
            <a:ext cx="50800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6" name="AutoShape 26"/>
          <p:cNvSpPr/>
          <p:nvPr/>
        </p:nvSpPr>
        <p:spPr>
          <a:xfrm>
            <a:off x="6413500" y="4445000"/>
            <a:ext cx="88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05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7429500" y="4508500"/>
            <a:ext cx="368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效果数据与总结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6413500" y="5207000"/>
            <a:ext cx="469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总结项目成果，展示真实数据，并展望未来。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2032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01. 项目背景与痛点分析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3302000"/>
            <a:ext cx="10668000" cy="2540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143000" y="3683000"/>
            <a:ext cx="9906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传统在线教育存在诸多痛点，我们希望通过引入AI技术，探索个性化学习的可能性，为解决这些问题提供一个原型方案。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1016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2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传统在线教育的三大核心痛点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2413000"/>
            <a:ext cx="3302000" cy="4064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635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2413000"/>
            <a:ext cx="3302000" cy="762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2794000"/>
            <a:ext cx="279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资源“千篇一律”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3492500"/>
            <a:ext cx="2794000" cy="266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标准化的课程内容无法适配学习者的知识基础与目标差异。如同“大锅饭”般的统一投喂，导致基础好的学生“吃不饱”，基础薄弱者则“消化不良”，难以实现因材施教。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572000" y="2413000"/>
            <a:ext cx="3302000" cy="4064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635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4572000" y="2413000"/>
            <a:ext cx="3302000" cy="762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4826000" y="2794000"/>
            <a:ext cx="279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体系“碎片化”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826000" y="3492500"/>
            <a:ext cx="2794000" cy="266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知识点零散堆砌，缺乏系统性的学习路径与前置依赖。学习者如同在碎片中拼图，难以建立完整的知识网络，不仅增加了认知负荷，更导致知识难以迁移和实际应用。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8382000" y="2413000"/>
            <a:ext cx="3302000" cy="4064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635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8382000" y="2413000"/>
            <a:ext cx="3302000" cy="762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8636000" y="2794000"/>
            <a:ext cx="279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辅导“缺乏交互”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636000" y="3492500"/>
            <a:ext cx="2794000" cy="266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答疑响应滞后，人工客服的通用化解答缺乏针对性。单向的信息传递模式打断了学习的连贯性，学习者在遇到卡点时无法获得即时反馈，学习动力与效率双重受损。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2921000"/>
            <a:ext cx="1016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02. 系统架构设计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4064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多智能体分层协同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分层架构概览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2032000" cy="2413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20320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889000" y="1714500"/>
            <a:ext cx="177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数据层 Data Layer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889000" y="2286000"/>
            <a:ext cx="177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1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负责存储用户信息、画像、学习路径等数据，确保数据的完整性与高可用性。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889000" y="3429000"/>
            <a:ext cx="1778000" cy="381000"/>
          </a:xfrm>
          <a:prstGeom prst="roundRect">
            <a:avLst>
              <a:gd name="adj" fmla="val 13333"/>
            </a:avLst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952500" y="3467100"/>
            <a:ext cx="165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047857"/>
                </a:solidFill>
                <a:latin typeface="Noto Sans SC"/>
                <a:ea typeface="Noto Sans SC"/>
                <a:cs typeface="Noto Sans SC"/>
                <a:sym typeface="Noto Sans SC"/>
              </a:rPr>
              <a:t>技术栈：SQLite 数据库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3048000" y="1524000"/>
            <a:ext cx="2032000" cy="2413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3048000" y="1524000"/>
            <a:ext cx="20320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3175000" y="1714500"/>
            <a:ext cx="177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能力层 Capability Layer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3175000" y="2286000"/>
            <a:ext cx="177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1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封装大模型调用、RAG检索等能力，提供内容安全过滤，为业务提供智能支持。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3175000" y="3429000"/>
            <a:ext cx="1778000" cy="381000"/>
          </a:xfrm>
          <a:prstGeom prst="roundRect">
            <a:avLst>
              <a:gd name="adj" fmla="val 13333"/>
            </a:avLst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3238500" y="3467100"/>
            <a:ext cx="165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047857"/>
                </a:solidFill>
                <a:latin typeface="Noto Sans SC"/>
                <a:ea typeface="Noto Sans SC"/>
                <a:cs typeface="Noto Sans SC"/>
                <a:sym typeface="Noto Sans SC"/>
              </a:rPr>
              <a:t>技术栈：讯飞星火/ChromaDB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5334000" y="1524000"/>
            <a:ext cx="2032000" cy="2413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5334000" y="1524000"/>
            <a:ext cx="20320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5461000" y="1714500"/>
            <a:ext cx="177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Agent层 Agent Layer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5461000" y="2286000"/>
            <a:ext cx="177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1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由多个专职智能体组成，分工协作，高效完成复杂的业务逻辑处理任务。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5461000" y="3429000"/>
            <a:ext cx="1778000" cy="381000"/>
          </a:xfrm>
          <a:prstGeom prst="roundRect">
            <a:avLst>
              <a:gd name="adj" fmla="val 13333"/>
            </a:avLst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5524500" y="3467100"/>
            <a:ext cx="165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047857"/>
                </a:solidFill>
                <a:latin typeface="Noto Sans SC"/>
                <a:ea typeface="Noto Sans SC"/>
                <a:cs typeface="Noto Sans SC"/>
                <a:sym typeface="Noto Sans SC"/>
              </a:rPr>
              <a:t>核心：专职智能体集群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762000" y="4191000"/>
            <a:ext cx="2032000" cy="2413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762000" y="4191000"/>
            <a:ext cx="20320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889000" y="4381500"/>
            <a:ext cx="177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编排层 Orchestrator Layer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889000" y="4953000"/>
            <a:ext cx="177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1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负责意图识别与任务分发，将复杂需求拆解为子任务，实现任务的最优调度。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889000" y="6096000"/>
            <a:ext cx="1778000" cy="381000"/>
          </a:xfrm>
          <a:prstGeom prst="roundRect">
            <a:avLst>
              <a:gd name="adj" fmla="val 13333"/>
            </a:avLst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26"/>
          <p:cNvSpPr/>
          <p:nvPr/>
        </p:nvSpPr>
        <p:spPr>
          <a:xfrm>
            <a:off x="952500" y="6134100"/>
            <a:ext cx="165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047857"/>
                </a:solidFill>
                <a:latin typeface="Noto Sans SC"/>
                <a:ea typeface="Noto Sans SC"/>
                <a:cs typeface="Noto Sans SC"/>
                <a:sym typeface="Noto Sans SC"/>
              </a:rPr>
              <a:t>核心：意图识别引擎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3048000" y="4191000"/>
            <a:ext cx="2032000" cy="2413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8" name="AutoShape 28"/>
          <p:cNvSpPr/>
          <p:nvPr/>
        </p:nvSpPr>
        <p:spPr>
          <a:xfrm>
            <a:off x="3048000" y="4191000"/>
            <a:ext cx="20320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" name="AutoShape 29"/>
          <p:cNvSpPr/>
          <p:nvPr/>
        </p:nvSpPr>
        <p:spPr>
          <a:xfrm>
            <a:off x="3175000" y="4381500"/>
            <a:ext cx="177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API层 API Layer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3175000" y="4953000"/>
            <a:ext cx="177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1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作为前后端交互桥梁，支持流式响应与SSE技术，提供低延迟数据推送体验。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3175000" y="6096000"/>
            <a:ext cx="1778000" cy="381000"/>
          </a:xfrm>
          <a:prstGeom prst="roundRect">
            <a:avLst>
              <a:gd name="adj" fmla="val 13333"/>
            </a:avLst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2" name="AutoShape 32"/>
          <p:cNvSpPr/>
          <p:nvPr/>
        </p:nvSpPr>
        <p:spPr>
          <a:xfrm>
            <a:off x="3238500" y="6134100"/>
            <a:ext cx="165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047857"/>
                </a:solidFill>
                <a:latin typeface="Noto Sans SC"/>
                <a:ea typeface="Noto Sans SC"/>
                <a:cs typeface="Noto Sans SC"/>
                <a:sym typeface="Noto Sans SC"/>
              </a:rPr>
              <a:t>技术栈：FastAPI 框架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5334000" y="4191000"/>
            <a:ext cx="2032000" cy="2413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34" name="AutoShape 34"/>
          <p:cNvSpPr/>
          <p:nvPr/>
        </p:nvSpPr>
        <p:spPr>
          <a:xfrm>
            <a:off x="5334000" y="4191000"/>
            <a:ext cx="20320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5" name="AutoShape 35"/>
          <p:cNvSpPr/>
          <p:nvPr/>
        </p:nvSpPr>
        <p:spPr>
          <a:xfrm>
            <a:off x="5461000" y="4381500"/>
            <a:ext cx="177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前端层 Frontend Layer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5461000" y="4953000"/>
            <a:ext cx="177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1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基于Vue 3开发，打造流畅、直观且具科技感的用户交互与内容展示体验。</a:t>
            </a:r>
            <a:endParaRPr lang="en-US" sz="1100"/>
          </a:p>
        </p:txBody>
      </p:sp>
      <p:sp>
        <p:nvSpPr>
          <p:cNvPr id="37" name="AutoShape 37"/>
          <p:cNvSpPr/>
          <p:nvPr/>
        </p:nvSpPr>
        <p:spPr>
          <a:xfrm>
            <a:off x="5461000" y="6096000"/>
            <a:ext cx="1778000" cy="381000"/>
          </a:xfrm>
          <a:prstGeom prst="roundRect">
            <a:avLst>
              <a:gd name="adj" fmla="val 13333"/>
            </a:avLst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8" name="AutoShape 38"/>
          <p:cNvSpPr/>
          <p:nvPr/>
        </p:nvSpPr>
        <p:spPr>
          <a:xfrm>
            <a:off x="5524500" y="6134100"/>
            <a:ext cx="165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047857"/>
                </a:solidFill>
                <a:latin typeface="Noto Sans SC"/>
                <a:ea typeface="Noto Sans SC"/>
                <a:cs typeface="Noto Sans SC"/>
                <a:sym typeface="Noto Sans SC"/>
              </a:rPr>
              <a:t>技术栈：Vue 3 生态</a:t>
            </a:r>
            <a:endParaRPr lang="en-US" sz="1100"/>
          </a:p>
        </p:txBody>
      </p:sp>
      <p:cxnSp>
        <p:nvCxnSpPr>
          <p:cNvPr id="39" name="Connector 39"/>
          <p:cNvCxnSpPr/>
          <p:nvPr/>
        </p:nvCxnSpPr>
        <p:spPr>
          <a:xfrm rot="5390953">
            <a:off x="5207000" y="3930658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40" name="AutoShape 40"/>
          <p:cNvSpPr/>
          <p:nvPr/>
        </p:nvSpPr>
        <p:spPr>
          <a:xfrm>
            <a:off x="7874000" y="1524000"/>
            <a:ext cx="3937000" cy="4953000"/>
          </a:xfrm>
          <a:prstGeom prst="roundRect">
            <a:avLst>
              <a:gd name="adj" fmla="val 258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203200" dist="76200" dir="5400000" algn="tl" rotWithShape="0">
              <a:srgbClr val="000000">
                <a:alpha val="6000"/>
              </a:srgbClr>
            </a:outerShdw>
          </a:effectLst>
        </p:spPr>
        <p:txBody>
          <a:bodyPr vert="horz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1" name="Picture 41"/>
          <p:cNvPicPr>
            <a:picLocks noChangeAspect="1"/>
          </p:cNvPicPr>
          <p:nvPr/>
        </p:nvPicPr>
        <p:blipFill>
          <a:blip r:embed="rId3"/>
          <a:srcRect t="15458" b="15458"/>
          <a:stretch>
            <a:fillRect/>
          </a:stretch>
        </p:blipFill>
        <p:spPr>
          <a:xfrm>
            <a:off x="8064500" y="1778000"/>
            <a:ext cx="3556000" cy="2286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2" name="AutoShape 42"/>
          <p:cNvSpPr/>
          <p:nvPr/>
        </p:nvSpPr>
        <p:spPr>
          <a:xfrm>
            <a:off x="8064500" y="4318000"/>
            <a:ext cx="3556000" cy="1905000"/>
          </a:xfrm>
          <a:prstGeom prst="roundRect">
            <a:avLst>
              <a:gd name="adj" fmla="val 4000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3" name="AutoShape 43"/>
          <p:cNvSpPr/>
          <p:nvPr/>
        </p:nvSpPr>
        <p:spPr>
          <a:xfrm>
            <a:off x="8191500" y="4445000"/>
            <a:ext cx="3302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系统采用严格的分层解耦设计，各层级边界清晰、职责单一。降低了模块耦合度，实现功能独立演进，通过标准化接口保障了系统稳定性与可维护性，为业务扩展和技术迭代提供坚实基础。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35000" y="508000"/>
            <a:ext cx="1092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多个专职Agent的设计与分工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635000" y="1206500"/>
            <a:ext cx="1092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我们构建了多个专职Agent，覆盖从学习需求分析到效果评估的全流程。每个Agent承担明确职责，在协作中完成专业任务，共同打造智能化教育服务体系。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635000" y="2095500"/>
            <a:ext cx="21590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635000" y="2095500"/>
            <a:ext cx="21590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762000" y="2286000"/>
            <a:ext cx="190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Orchestrator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2641600"/>
            <a:ext cx="1905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中央调度核心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2921000"/>
            <a:ext cx="190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1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负责意图识别、任务拆解与分发，协调各Agent协作。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2984500" y="2095500"/>
            <a:ext cx="21590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2984500" y="2095500"/>
            <a:ext cx="21590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3111500" y="2286000"/>
            <a:ext cx="190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ProfileAgent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3111500" y="2641600"/>
            <a:ext cx="1905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首席学习分析师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3111500" y="2921000"/>
            <a:ext cx="190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1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分析用户画像与学习需求，为方案定制提供依据。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5334000" y="2095500"/>
            <a:ext cx="21590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5334000" y="2095500"/>
            <a:ext cx="21590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5461000" y="2286000"/>
            <a:ext cx="190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DocAgent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5461000" y="2641600"/>
            <a:ext cx="1905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专业课程讲师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5461000" y="2921000"/>
            <a:ext cx="190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1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生成课程文档与学习材料，适配学习节奏。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35000" y="3683000"/>
            <a:ext cx="1625600" cy="1270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381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635000" y="3683000"/>
            <a:ext cx="1625600" cy="381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698500" y="3835400"/>
            <a:ext cx="14986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MindmapAgent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98500" y="4165600"/>
            <a:ext cx="14986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知识架构师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98500" y="4394200"/>
            <a:ext cx="14986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0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梳理知识逻辑，生成可视化知识图谱。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2463800" y="3683000"/>
            <a:ext cx="1625600" cy="1270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381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2463800" y="3683000"/>
            <a:ext cx="1625600" cy="381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6" name="AutoShape 26"/>
          <p:cNvSpPr/>
          <p:nvPr/>
        </p:nvSpPr>
        <p:spPr>
          <a:xfrm>
            <a:off x="2527300" y="3835400"/>
            <a:ext cx="14986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QuizAgent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2527300" y="4165600"/>
            <a:ext cx="14986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智能出题官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2527300" y="4394200"/>
            <a:ext cx="14986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0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生成梯度习题，辅助知识点巩固。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4292600" y="3683000"/>
            <a:ext cx="1625600" cy="1270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381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30" name="AutoShape 30"/>
          <p:cNvSpPr/>
          <p:nvPr/>
        </p:nvSpPr>
        <p:spPr>
          <a:xfrm>
            <a:off x="4292600" y="3683000"/>
            <a:ext cx="1625600" cy="381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31" name="AutoShape 31"/>
          <p:cNvSpPr/>
          <p:nvPr/>
        </p:nvSpPr>
        <p:spPr>
          <a:xfrm>
            <a:off x="4356100" y="3835400"/>
            <a:ext cx="14986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CodeAgent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4356100" y="4165600"/>
            <a:ext cx="14986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编程技术导师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4356100" y="4394200"/>
            <a:ext cx="14986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0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提供代码方案与技术解答，辅助实操。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6121400" y="3683000"/>
            <a:ext cx="1625600" cy="1270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381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35" name="AutoShape 35"/>
          <p:cNvSpPr/>
          <p:nvPr/>
        </p:nvSpPr>
        <p:spPr>
          <a:xfrm>
            <a:off x="6121400" y="3683000"/>
            <a:ext cx="1625600" cy="381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36" name="AutoShape 36"/>
          <p:cNvSpPr/>
          <p:nvPr/>
        </p:nvSpPr>
        <p:spPr>
          <a:xfrm>
            <a:off x="6184900" y="3835400"/>
            <a:ext cx="14986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PPTAgent</a:t>
            </a:r>
            <a:endParaRPr lang="en-US" sz="1100"/>
          </a:p>
        </p:txBody>
      </p:sp>
      <p:sp>
        <p:nvSpPr>
          <p:cNvPr id="37" name="AutoShape 37"/>
          <p:cNvSpPr/>
          <p:nvPr/>
        </p:nvSpPr>
        <p:spPr>
          <a:xfrm>
            <a:off x="6184900" y="4165600"/>
            <a:ext cx="14986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视觉设计师</a:t>
            </a:r>
            <a:endParaRPr lang="en-US" sz="1100"/>
          </a:p>
        </p:txBody>
      </p:sp>
      <p:sp>
        <p:nvSpPr>
          <p:cNvPr id="38" name="AutoShape 38"/>
          <p:cNvSpPr/>
          <p:nvPr/>
        </p:nvSpPr>
        <p:spPr>
          <a:xfrm>
            <a:off x="6184900" y="4394200"/>
            <a:ext cx="14986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0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生成教学课件，优化知识呈现形式。</a:t>
            </a:r>
            <a:endParaRPr lang="en-US" sz="1100"/>
          </a:p>
        </p:txBody>
      </p:sp>
      <p:sp>
        <p:nvSpPr>
          <p:cNvPr id="39" name="AutoShape 39"/>
          <p:cNvSpPr/>
          <p:nvPr/>
        </p:nvSpPr>
        <p:spPr>
          <a:xfrm>
            <a:off x="635000" y="5143500"/>
            <a:ext cx="1625600" cy="1333500"/>
          </a:xfrm>
          <a:prstGeom prst="roundRect">
            <a:avLst>
              <a:gd name="adj" fmla="val 7619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381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40" name="AutoShape 40"/>
          <p:cNvSpPr/>
          <p:nvPr/>
        </p:nvSpPr>
        <p:spPr>
          <a:xfrm>
            <a:off x="635000" y="5143500"/>
            <a:ext cx="1625600" cy="381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41" name="AutoShape 41"/>
          <p:cNvSpPr/>
          <p:nvPr/>
        </p:nvSpPr>
        <p:spPr>
          <a:xfrm>
            <a:off x="698500" y="5270500"/>
            <a:ext cx="14986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PathAgent</a:t>
            </a:r>
            <a:endParaRPr lang="en-US" sz="1100"/>
          </a:p>
        </p:txBody>
      </p:sp>
      <p:sp>
        <p:nvSpPr>
          <p:cNvPr id="42" name="AutoShape 42"/>
          <p:cNvSpPr/>
          <p:nvPr/>
        </p:nvSpPr>
        <p:spPr>
          <a:xfrm>
            <a:off x="698500" y="5562600"/>
            <a:ext cx="1498600" cy="19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教育规划师</a:t>
            </a:r>
            <a:endParaRPr lang="en-US" sz="1100"/>
          </a:p>
        </p:txBody>
      </p:sp>
      <p:sp>
        <p:nvSpPr>
          <p:cNvPr id="43" name="AutoShape 43"/>
          <p:cNvSpPr/>
          <p:nvPr/>
        </p:nvSpPr>
        <p:spPr>
          <a:xfrm>
            <a:off x="698500" y="5791200"/>
            <a:ext cx="14986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0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定制学习进阶路线，调整学习方案。</a:t>
            </a:r>
            <a:endParaRPr lang="en-US" sz="1100"/>
          </a:p>
        </p:txBody>
      </p:sp>
      <p:sp>
        <p:nvSpPr>
          <p:cNvPr id="44" name="AutoShape 44"/>
          <p:cNvSpPr/>
          <p:nvPr/>
        </p:nvSpPr>
        <p:spPr>
          <a:xfrm>
            <a:off x="2463800" y="5143500"/>
            <a:ext cx="1625600" cy="1333500"/>
          </a:xfrm>
          <a:prstGeom prst="roundRect">
            <a:avLst>
              <a:gd name="adj" fmla="val 7619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381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45" name="AutoShape 45"/>
          <p:cNvSpPr/>
          <p:nvPr/>
        </p:nvSpPr>
        <p:spPr>
          <a:xfrm>
            <a:off x="2463800" y="5143500"/>
            <a:ext cx="1625600" cy="381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46" name="AutoShape 46"/>
          <p:cNvSpPr/>
          <p:nvPr/>
        </p:nvSpPr>
        <p:spPr>
          <a:xfrm>
            <a:off x="2527300" y="5270500"/>
            <a:ext cx="14986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ReadingAgent</a:t>
            </a:r>
            <a:endParaRPr lang="en-US" sz="1100"/>
          </a:p>
        </p:txBody>
      </p:sp>
      <p:sp>
        <p:nvSpPr>
          <p:cNvPr id="47" name="AutoShape 47"/>
          <p:cNvSpPr/>
          <p:nvPr/>
        </p:nvSpPr>
        <p:spPr>
          <a:xfrm>
            <a:off x="2527300" y="5562600"/>
            <a:ext cx="1498600" cy="19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学术顾问</a:t>
            </a:r>
            <a:endParaRPr lang="en-US" sz="1100"/>
          </a:p>
        </p:txBody>
      </p:sp>
      <p:sp>
        <p:nvSpPr>
          <p:cNvPr id="48" name="AutoShape 48"/>
          <p:cNvSpPr/>
          <p:nvPr/>
        </p:nvSpPr>
        <p:spPr>
          <a:xfrm>
            <a:off x="2527300" y="5791200"/>
            <a:ext cx="14986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0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筛选领域文献，辅助深度研究与阅读。</a:t>
            </a:r>
            <a:endParaRPr lang="en-US" sz="1100"/>
          </a:p>
        </p:txBody>
      </p:sp>
      <p:sp>
        <p:nvSpPr>
          <p:cNvPr id="49" name="AutoShape 49"/>
          <p:cNvSpPr/>
          <p:nvPr/>
        </p:nvSpPr>
        <p:spPr>
          <a:xfrm>
            <a:off x="4292600" y="5143500"/>
            <a:ext cx="1625600" cy="1333500"/>
          </a:xfrm>
          <a:prstGeom prst="roundRect">
            <a:avLst>
              <a:gd name="adj" fmla="val 7619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381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50" name="AutoShape 50"/>
          <p:cNvSpPr/>
          <p:nvPr/>
        </p:nvSpPr>
        <p:spPr>
          <a:xfrm>
            <a:off x="4292600" y="5143500"/>
            <a:ext cx="1625600" cy="381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51" name="AutoShape 51"/>
          <p:cNvSpPr/>
          <p:nvPr/>
        </p:nvSpPr>
        <p:spPr>
          <a:xfrm>
            <a:off x="4356100" y="5270500"/>
            <a:ext cx="14986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TutorAgent</a:t>
            </a:r>
            <a:endParaRPr lang="en-US" sz="1100"/>
          </a:p>
        </p:txBody>
      </p:sp>
      <p:sp>
        <p:nvSpPr>
          <p:cNvPr id="52" name="AutoShape 52"/>
          <p:cNvSpPr/>
          <p:nvPr/>
        </p:nvSpPr>
        <p:spPr>
          <a:xfrm>
            <a:off x="4356100" y="5562600"/>
            <a:ext cx="1498600" cy="19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助教“小智”</a:t>
            </a:r>
            <a:endParaRPr lang="en-US" sz="1100"/>
          </a:p>
        </p:txBody>
      </p:sp>
      <p:sp>
        <p:nvSpPr>
          <p:cNvPr id="53" name="AutoShape 53"/>
          <p:cNvSpPr/>
          <p:nvPr/>
        </p:nvSpPr>
        <p:spPr>
          <a:xfrm>
            <a:off x="4356100" y="5791200"/>
            <a:ext cx="14986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0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提供学习答疑与陪伴，即时响应问题。</a:t>
            </a:r>
            <a:endParaRPr lang="en-US" sz="1100"/>
          </a:p>
        </p:txBody>
      </p:sp>
      <p:sp>
        <p:nvSpPr>
          <p:cNvPr id="54" name="AutoShape 54"/>
          <p:cNvSpPr/>
          <p:nvPr/>
        </p:nvSpPr>
        <p:spPr>
          <a:xfrm>
            <a:off x="6121400" y="5143500"/>
            <a:ext cx="1625600" cy="1333500"/>
          </a:xfrm>
          <a:prstGeom prst="roundRect">
            <a:avLst>
              <a:gd name="adj" fmla="val 7619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381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55" name="AutoShape 55"/>
          <p:cNvSpPr/>
          <p:nvPr/>
        </p:nvSpPr>
        <p:spPr>
          <a:xfrm>
            <a:off x="6121400" y="5143500"/>
            <a:ext cx="1625600" cy="381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56" name="AutoShape 56"/>
          <p:cNvSpPr/>
          <p:nvPr/>
        </p:nvSpPr>
        <p:spPr>
          <a:xfrm>
            <a:off x="6184900" y="5270500"/>
            <a:ext cx="14986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EvalAgent</a:t>
            </a:r>
            <a:endParaRPr lang="en-US" sz="1100"/>
          </a:p>
        </p:txBody>
      </p:sp>
      <p:sp>
        <p:nvSpPr>
          <p:cNvPr id="57" name="AutoShape 57"/>
          <p:cNvSpPr/>
          <p:nvPr/>
        </p:nvSpPr>
        <p:spPr>
          <a:xfrm>
            <a:off x="6184900" y="5562600"/>
            <a:ext cx="1498600" cy="19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效果评估专家</a:t>
            </a:r>
            <a:endParaRPr lang="en-US" sz="1100"/>
          </a:p>
        </p:txBody>
      </p:sp>
      <p:sp>
        <p:nvSpPr>
          <p:cNvPr id="58" name="AutoShape 58"/>
          <p:cNvSpPr/>
          <p:nvPr/>
        </p:nvSpPr>
        <p:spPr>
          <a:xfrm>
            <a:off x="6184900" y="5791200"/>
            <a:ext cx="14986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0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评估学习成果，输出改进报告。</a:t>
            </a:r>
            <a:endParaRPr lang="en-US" sz="1100"/>
          </a:p>
        </p:txBody>
      </p:sp>
      <p:cxnSp>
        <p:nvCxnSpPr>
          <p:cNvPr id="59" name="Connector 59"/>
          <p:cNvCxnSpPr/>
          <p:nvPr/>
        </p:nvCxnSpPr>
        <p:spPr>
          <a:xfrm rot="5390035">
            <a:off x="5746750" y="4279909"/>
            <a:ext cx="4381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0" name="Picture 60"/>
          <p:cNvPicPr>
            <a:picLocks noChangeAspect="1"/>
          </p:cNvPicPr>
          <p:nvPr/>
        </p:nvPicPr>
        <p:blipFill>
          <a:blip r:embed="rId3"/>
          <a:srcRect l="15046" r="15046"/>
          <a:stretch>
            <a:fillRect/>
          </a:stretch>
        </p:blipFill>
        <p:spPr>
          <a:xfrm>
            <a:off x="8064500" y="2095500"/>
            <a:ext cx="3683000" cy="203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1" name="AutoShape 61"/>
          <p:cNvSpPr/>
          <p:nvPr/>
        </p:nvSpPr>
        <p:spPr>
          <a:xfrm>
            <a:off x="8064500" y="4445000"/>
            <a:ext cx="3683000" cy="2032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62" name="AutoShape 62"/>
          <p:cNvSpPr/>
          <p:nvPr/>
        </p:nvSpPr>
        <p:spPr>
          <a:xfrm>
            <a:off x="8064500" y="4445000"/>
            <a:ext cx="36830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63" name="AutoShape 63"/>
          <p:cNvSpPr/>
          <p:nvPr/>
        </p:nvSpPr>
        <p:spPr>
          <a:xfrm>
            <a:off x="8191500" y="4635500"/>
            <a:ext cx="3429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Agent协同模式</a:t>
            </a:r>
            <a:endParaRPr lang="en-US" sz="1100"/>
          </a:p>
        </p:txBody>
      </p:sp>
      <p:sp>
        <p:nvSpPr>
          <p:cNvPr id="64" name="AutoShape 64"/>
          <p:cNvSpPr/>
          <p:nvPr/>
        </p:nvSpPr>
        <p:spPr>
          <a:xfrm>
            <a:off x="8191500" y="5080000"/>
            <a:ext cx="3429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以Orchestrator为核心，各Agent分工协作，完成从需求输入到结果交付的全流程，形成标准化的协作链路，为用户提供专业的教育解决方案。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3048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03. 核心功能展示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4191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目前已实现的功能模块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35000" y="444500"/>
            <a:ext cx="1092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功能一：初步探索基于对话的学生画像构建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3810000" cy="3556000"/>
          </a:xfrm>
          <a:prstGeom prst="roundRect">
            <a:avLst>
              <a:gd name="adj" fmla="val 428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5143500"/>
            <a:ext cx="38100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952500" y="5334000"/>
            <a:ext cx="342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我们正尝试通过自然对话，无感式地收集信息，为构建学生画像提供基础。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4953000" y="1524000"/>
            <a:ext cx="2095500" cy="2349500"/>
          </a:xfrm>
          <a:prstGeom prst="roundRect">
            <a:avLst>
              <a:gd name="adj" fmla="val 727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05400" y="17145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5486400" y="1701800"/>
            <a:ext cx="1460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知识基础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5105400" y="2184400"/>
            <a:ext cx="1790700" cy="158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1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尝试量化评估各学科核心知识点的掌握程度，通过熟练度指标精准定位已内化内容与待巩固的知识盲区，构建基础能力基线。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239000" y="1524000"/>
            <a:ext cx="2095500" cy="2349500"/>
          </a:xfrm>
          <a:prstGeom prst="roundRect">
            <a:avLst>
              <a:gd name="adj" fmla="val 727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91400" y="17145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7772400" y="1701800"/>
            <a:ext cx="1460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认知风格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391400" y="2184400"/>
            <a:ext cx="1790700" cy="158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1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尝试通过交互行为模式，识别学生属于视觉型、听觉型还是动手实践型。以此为基础适配信息呈现形式，最大化学习信息的接收效率。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9525000" y="1524000"/>
            <a:ext cx="2095500" cy="2349500"/>
          </a:xfrm>
          <a:prstGeom prst="roundRect">
            <a:avLst>
              <a:gd name="adj" fmla="val 727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677400" y="1714500"/>
            <a:ext cx="304800" cy="3048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10058400" y="1701800"/>
            <a:ext cx="1460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薄弱项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9677400" y="2184400"/>
            <a:ext cx="1790700" cy="158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1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尝试自动捕捉对话中反复出现的错误点，以及学生主动反馈的疑难问题。动态生成专属错题集与攻克计划，实现针对性查漏补缺。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4953000" y="4127500"/>
            <a:ext cx="2095500" cy="2349500"/>
          </a:xfrm>
          <a:prstGeom prst="roundRect">
            <a:avLst>
              <a:gd name="adj" fmla="val 727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105400" y="4318000"/>
            <a:ext cx="304800" cy="3048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5486400" y="4305300"/>
            <a:ext cx="1460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学习目标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5105400" y="4787900"/>
            <a:ext cx="1790700" cy="158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1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尝试明确用户是为了应试提分、职业技能实战，还是纯粹的技术兴趣探索。目标导向决定了内容的深度、广度以及推荐的优先级策略。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239000" y="4127500"/>
            <a:ext cx="2095500" cy="2349500"/>
          </a:xfrm>
          <a:prstGeom prst="roundRect">
            <a:avLst>
              <a:gd name="adj" fmla="val 727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391400" y="4318000"/>
            <a:ext cx="304800" cy="3048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7772400" y="4305300"/>
            <a:ext cx="1460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学习节奏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7391400" y="4787900"/>
            <a:ext cx="1790700" cy="158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1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尝试分析用户的学习频率与接受速度，识别快速冲刺、边学边练或稳扎稳打的模式。系统据此动态调整教学内容的推送节奏与任务量。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9525000" y="4127500"/>
            <a:ext cx="2095500" cy="2349500"/>
          </a:xfrm>
          <a:prstGeom prst="roundRect">
            <a:avLst>
              <a:gd name="adj" fmla="val 727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677400" y="4318000"/>
            <a:ext cx="304800" cy="304800"/>
          </a:xfrm>
          <a:prstGeom prst="rect">
            <a:avLst/>
          </a:prstGeom>
        </p:spPr>
      </p:pic>
      <p:sp>
        <p:nvSpPr>
          <p:cNvPr id="28" name="AutoShape 28"/>
          <p:cNvSpPr/>
          <p:nvPr/>
        </p:nvSpPr>
        <p:spPr>
          <a:xfrm>
            <a:off x="10058400" y="4305300"/>
            <a:ext cx="1460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兴趣方向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9677400" y="4787900"/>
            <a:ext cx="1790700" cy="158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1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尝试挖掘用户在技术领域的深层兴趣，如NLP、计算机视觉或强化学习等。基于此拓展相关前沿知识，保持学习内容的吸引力与相关性。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79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111827"/>
                </a:solidFill>
                <a:latin typeface="Noto Sans SC"/>
                <a:ea typeface="Noto Sans SC"/>
                <a:cs typeface="Noto Sans SC"/>
                <a:sym typeface="Noto Sans SC"/>
              </a:rPr>
              <a:t>功能二：多种学习资源的生成尝试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3429000" cy="4826000"/>
          </a:xfrm>
          <a:prstGeom prst="roundRect">
            <a:avLst>
              <a:gd name="adj" fmla="val 370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34290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18415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49400" y="1841500"/>
            <a:ext cx="254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课程讲义 (Markdown)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14946">
            <a:off x="1016014" y="24701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016000" y="2667000"/>
            <a:ext cx="2921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基于学生画像自动生成结构化的Markdown格式讲义，将复杂的知识点拆解为逻辑清晰的章节。系统支持自动嵌入LaTeX数学公式与Mermaid流程图，让抽象的学术概念和复杂逻辑关系以最直观的方式具象化呈现。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16000" y="4445000"/>
            <a:ext cx="2921000" cy="1651000"/>
          </a:xfrm>
          <a:prstGeom prst="roundRect">
            <a:avLst>
              <a:gd name="adj" fmla="val 6153"/>
            </a:avLst>
          </a:prstGeom>
          <a:solidFill>
            <a:srgbClr val="10B981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1143000" y="4572000"/>
            <a:ext cx="2667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核心价值：标准化知识交付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143000" y="4953000"/>
            <a:ext cx="2667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无需手动排版，系统按教学逻辑重组内容。无论是课前预习还是课后复习，规范的文档格式能帮助学生快速建立知识框架，大幅提升信息获取与内容吸收的效率。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508500" y="1524000"/>
            <a:ext cx="3429000" cy="4826000"/>
          </a:xfrm>
          <a:prstGeom prst="roundRect">
            <a:avLst>
              <a:gd name="adj" fmla="val 370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4508500" y="1524000"/>
            <a:ext cx="34290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5"/>
          <a:srcRect t="19447" b="19447"/>
          <a:stretch>
            <a:fillRect/>
          </a:stretch>
        </p:blipFill>
        <p:spPr>
          <a:xfrm>
            <a:off x="4762500" y="1841500"/>
            <a:ext cx="2921000" cy="1651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5" name="AutoShape 15"/>
          <p:cNvSpPr/>
          <p:nvPr/>
        </p:nvSpPr>
        <p:spPr>
          <a:xfrm>
            <a:off x="4762500" y="3683000"/>
            <a:ext cx="292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代码案例 (Code)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4762500" y="4191000"/>
            <a:ext cx="2921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提供结构化的代码教学案例结构：从实际场景引入问题，给出核心可运行代码，附带逐行逻辑讲解，展示运行结果并提供变式练习，形成完整的编程实践闭环。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4762500" y="5461000"/>
            <a:ext cx="2921000" cy="635000"/>
          </a:xfrm>
          <a:prstGeom prst="roundRect">
            <a:avLst>
              <a:gd name="adj" fmla="val 16000"/>
            </a:avLst>
          </a:prstGeom>
          <a:solidFill>
            <a:srgbClr val="10B981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4889500" y="5562600"/>
            <a:ext cx="266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333"/>
              </a:lnSpc>
              <a:defRPr/>
            </a:pPr>
            <a:r>
              <a:rPr lang="en-US" sz="1100" b="0" i="0" u="none" strike="noStrike">
                <a:solidFill>
                  <a:srgbClr val="059669"/>
                </a:solidFill>
                <a:latin typeface="Noto Sans SC"/>
                <a:ea typeface="Noto Sans SC"/>
                <a:cs typeface="Noto Sans SC"/>
                <a:sym typeface="Noto Sans SC"/>
              </a:rPr>
              <a:t>多语言语法高亮，代码即学即用，让编程学习从静态阅读到动态实操无缝衔接。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8255000" y="1524000"/>
            <a:ext cx="3429000" cy="4826000"/>
          </a:xfrm>
          <a:prstGeom prst="roundRect">
            <a:avLst>
              <a:gd name="adj" fmla="val 370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8255000" y="1524000"/>
            <a:ext cx="34290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6"/>
          <a:srcRect t="3095" b="3095"/>
          <a:stretch>
            <a:fillRect/>
          </a:stretch>
        </p:blipFill>
        <p:spPr>
          <a:xfrm>
            <a:off x="8509000" y="1841500"/>
            <a:ext cx="2921000" cy="1651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2" name="AutoShape 22"/>
          <p:cNvSpPr/>
          <p:nvPr/>
        </p:nvSpPr>
        <p:spPr>
          <a:xfrm>
            <a:off x="8509000" y="3683000"/>
            <a:ext cx="292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思维导图 (Mermaid)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8509000" y="4191000"/>
            <a:ext cx="2921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基于学科知识图谱生成Mermaid格式的思维导图，将零散的知识点串联成网状结构，直观呈现概念间的层级关系与内在逻辑，构建清晰的知识全景图。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8509000" y="5461000"/>
            <a:ext cx="2921000" cy="635000"/>
          </a:xfrm>
          <a:prstGeom prst="roundRect">
            <a:avLst>
              <a:gd name="adj" fmla="val 16000"/>
            </a:avLst>
          </a:prstGeom>
          <a:solidFill>
            <a:srgbClr val="10B981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8636000" y="5562600"/>
            <a:ext cx="266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333"/>
              </a:lnSpc>
              <a:defRPr/>
            </a:pPr>
            <a:r>
              <a:rPr lang="en-US" sz="1100" b="0" i="0" u="none" strike="noStrike">
                <a:solidFill>
                  <a:srgbClr val="059669"/>
                </a:solidFill>
                <a:latin typeface="Noto Sans SC"/>
                <a:ea typeface="Noto Sans SC"/>
                <a:cs typeface="Noto Sans SC"/>
                <a:sym typeface="Noto Sans SC"/>
              </a:rPr>
              <a:t>跳出细节建立全局认知，快速掌握核心脉络，强化知识的系统性与关联性记忆。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98500" y="635000"/>
            <a:ext cx="1079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功能三：学习路径、辅导与评估的初步闭环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778000"/>
            <a:ext cx="3302000" cy="4699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06600" y="2413000"/>
            <a:ext cx="812800" cy="8128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016000" y="3683000"/>
            <a:ext cx="2794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学习路径规划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4318000"/>
            <a:ext cx="2794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基于知识图谱生成个性化学习路径，自动拆解知识体系，合理规划节奏，告别盲目探索，提升学习效率。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445000" y="1778000"/>
            <a:ext cx="3302000" cy="4699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89600" y="2413000"/>
            <a:ext cx="812800" cy="812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4699000" y="3683000"/>
            <a:ext cx="2794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智能辅导“小智”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699000" y="4318000"/>
            <a:ext cx="2794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提供问答式智能辅导，以贴心风格即时答疑，引导自主思考，剖析知识难点，如随身导师般提供精准支持。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8128000" y="1778000"/>
            <a:ext cx="3302000" cy="4699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372600" y="2413000"/>
            <a:ext cx="812800" cy="812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8382000" y="3683000"/>
            <a:ext cx="2794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学习效果评估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382000" y="4318000"/>
            <a:ext cx="2794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从多维度评估学习效果，基于数据生成改进方案，指出薄弱环节，帮助调整策略，实现学习效果持续优化。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2794000"/>
            <a:ext cx="1219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52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04. 技术创新亮点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08000" y="508000"/>
            <a:ext cx="1117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项目中的技术探索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508000" y="1651000"/>
            <a:ext cx="3556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2000" y="1905000"/>
            <a:ext cx="355600" cy="3556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219200" y="18796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多智能体架构的设计与实践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413000"/>
            <a:ext cx="3048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内置11个专职Agent，将复杂任务自动拆解为子任务链，实现专业化分工处理，提升复杂业务执行效率与结果质量。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318000" y="1651000"/>
            <a:ext cx="3556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72000" y="1905000"/>
            <a:ext cx="355600" cy="3556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5029200" y="18796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基于知识图谱的路径规划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572000" y="2413000"/>
            <a:ext cx="3048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基于拓扑排序算法动态推演路径，结合用户历史与偏好生成个性化方案，精准适配多变的业务场景。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508000" y="4191000"/>
            <a:ext cx="3556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62000" y="4445000"/>
            <a:ext cx="355600" cy="3556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219200" y="44196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RAG技术的应用与探索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62000" y="4953000"/>
            <a:ext cx="3048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集成ChromaDB向量检索引擎，生成前进行精准事实核查并标注来源，有效抑制模型幻觉，确保信息真实性。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4318000" y="4191000"/>
            <a:ext cx="3556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572000" y="4445000"/>
            <a:ext cx="355600" cy="3556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5029200" y="44196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内容安全过滤机制的设计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4572000" y="4953000"/>
            <a:ext cx="3048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构建“输入拦截+输出判别”双重防线，前置过滤风险指令，后置多类别命中判断，保障安全并适配业务需求。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8128000" y="1651000"/>
            <a:ext cx="3556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318500" y="1841500"/>
            <a:ext cx="304800" cy="3048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8699500" y="1841500"/>
            <a:ext cx="279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PPT代码展示解决方案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8318500" y="2222500"/>
            <a:ext cx="3175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采用Pygments引擎渲染代码为矢量PNG，还原IDE级高亮，解决代码排版错乱痛点。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8128000" y="3238500"/>
            <a:ext cx="3556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318500" y="3429000"/>
            <a:ext cx="304800" cy="3048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8699500" y="3429000"/>
            <a:ext cx="279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流式响应与前端渲染优化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8318500" y="3810000"/>
            <a:ext cx="3175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基于SSE技术与智能延迟加载，实现内容逐段实时输出，毫秒级响应提升体验。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8128000" y="4826000"/>
            <a:ext cx="3556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318500" y="5016500"/>
            <a:ext cx="304800" cy="304800"/>
          </a:xfrm>
          <a:prstGeom prst="rect">
            <a:avLst/>
          </a:prstGeom>
        </p:spPr>
      </p:pic>
      <p:sp>
        <p:nvSpPr>
          <p:cNvPr id="29" name="AutoShape 29"/>
          <p:cNvSpPr/>
          <p:nvPr/>
        </p:nvSpPr>
        <p:spPr>
          <a:xfrm>
            <a:off x="8699500" y="5016500"/>
            <a:ext cx="279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Mermaid图表的交互优化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8318500" y="5397500"/>
            <a:ext cx="3175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支持点击渲染、缓存与全屏查看，兼顾可视化效果与页面加载性能。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3175000"/>
            <a:ext cx="1016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05. 效果数据与总结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160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关键数据概览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33020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3302000" cy="381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889000" y="1524000"/>
            <a:ext cx="3048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智能 Agent 部署数量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889000" y="1879600"/>
            <a:ext cx="3048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11</a:t>
            </a: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个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889000" y="2336800"/>
            <a:ext cx="304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构建多角色协同工作流，高效运转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445000" y="1397000"/>
            <a:ext cx="33020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4445000" y="1397000"/>
            <a:ext cx="3302000" cy="381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4572000" y="1524000"/>
            <a:ext cx="3048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支持生成资源类型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572000" y="1879600"/>
            <a:ext cx="3048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7</a:t>
            </a: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种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572000" y="2336800"/>
            <a:ext cx="304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涵盖文档、习题等多元化素材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128000" y="1397000"/>
            <a:ext cx="33020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8128000" y="1397000"/>
            <a:ext cx="3302000" cy="381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8255000" y="1524000"/>
            <a:ext cx="3048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用户精准画像维度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255000" y="1879600"/>
            <a:ext cx="3048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6</a:t>
            </a: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维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255000" y="2336800"/>
            <a:ext cx="304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捕捉学习习惯、能力与目标特征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62000" y="3048000"/>
            <a:ext cx="33020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762000" y="3048000"/>
            <a:ext cx="3302000" cy="381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889000" y="3175000"/>
            <a:ext cx="3048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安全风控词库规模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889000" y="3530600"/>
            <a:ext cx="3048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600+</a:t>
            </a: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词条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889000" y="3987800"/>
            <a:ext cx="304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6大类敏感词规则，保障合规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4445000" y="3048000"/>
            <a:ext cx="33020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4445000" y="3048000"/>
            <a:ext cx="3302000" cy="381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4572000" y="3175000"/>
            <a:ext cx="3048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前端核心功能模块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4572000" y="3530600"/>
            <a:ext cx="3048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4</a:t>
            </a: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个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4572000" y="3987800"/>
            <a:ext cx="304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极简交互，聚焦核心学习场景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8128000" y="3048000"/>
            <a:ext cx="33020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9" name="AutoShape 29"/>
          <p:cNvSpPr/>
          <p:nvPr/>
        </p:nvSpPr>
        <p:spPr>
          <a:xfrm>
            <a:off x="8128000" y="3048000"/>
            <a:ext cx="3302000" cy="381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30" name="AutoShape 30"/>
          <p:cNvSpPr/>
          <p:nvPr/>
        </p:nvSpPr>
        <p:spPr>
          <a:xfrm>
            <a:off x="8255000" y="3175000"/>
            <a:ext cx="3048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标准化交付文档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8255000" y="3530600"/>
            <a:ext cx="3048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4</a:t>
            </a: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份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8255000" y="3987800"/>
            <a:ext cx="304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涵盖部署、开发、使用与维护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762000" y="4699000"/>
            <a:ext cx="10668000" cy="889000"/>
          </a:xfrm>
          <a:prstGeom prst="roundRect">
            <a:avLst>
              <a:gd name="adj" fmla="val 1142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38100" dir="54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34" name="AutoShape 34"/>
          <p:cNvSpPr/>
          <p:nvPr/>
        </p:nvSpPr>
        <p:spPr>
          <a:xfrm>
            <a:off x="1016000" y="4826000"/>
            <a:ext cx="177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技术底座</a:t>
            </a:r>
            <a:endParaRPr lang="en-US" sz="1100"/>
          </a:p>
        </p:txBody>
      </p:sp>
      <p:cxnSp>
        <p:nvCxnSpPr>
          <p:cNvPr id="35" name="Connector 35"/>
          <p:cNvCxnSpPr/>
          <p:nvPr/>
        </p:nvCxnSpPr>
        <p:spPr>
          <a:xfrm rot="5325278">
            <a:off x="2628900" y="5137219"/>
            <a:ext cx="584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6" name="AutoShape 36"/>
          <p:cNvSpPr/>
          <p:nvPr/>
        </p:nvSpPr>
        <p:spPr>
          <a:xfrm>
            <a:off x="3175000" y="4826000"/>
            <a:ext cx="812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Python + FastAPI + Vue3 + SQLite + ChromaDB + 讯飞星火大模型。轻量级微服务架构，结合向量数据库与大模型能力，打造低延迟、高扩展性智能学习引擎。</a:t>
            </a:r>
            <a:endParaRPr lang="en-US" sz="1100"/>
          </a:p>
        </p:txBody>
      </p:sp>
      <p:sp>
        <p:nvSpPr>
          <p:cNvPr id="37" name="AutoShape 37"/>
          <p:cNvSpPr/>
          <p:nvPr/>
        </p:nvSpPr>
        <p:spPr>
          <a:xfrm>
            <a:off x="762000" y="5778500"/>
            <a:ext cx="5207000" cy="889000"/>
          </a:xfrm>
          <a:prstGeom prst="roundRect">
            <a:avLst>
              <a:gd name="adj" fmla="val 1142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38100" dir="54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190500" tIns="127000" rIns="190500" bIns="127000" rtlCol="0" anchor="ctr" anchorCtr="0"/>
          <a:lstStyle/>
          <a:p>
            <a:pPr marL="0" indent="0" algn="ctr">
              <a:lnSpc>
                <a:spcPct val="108333"/>
              </a:lnSpc>
              <a:defRPr/>
            </a:pPr>
            <a:r>
              <a:rPr lang="en-US" sz="13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项目总结</a:t>
            </a:r>
            <a:endParaRPr lang="en-US" sz="1100"/>
          </a:p>
          <a:p>
            <a:pPr marL="0" indent="0" algn="ctr">
              <a:lnSpc>
                <a:spcPct val="108333"/>
              </a:lnSpc>
            </a:pPr>
            <a:r>
              <a:rPr lang="en-US" sz="11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探索性原型验证了多智能体架构可行性，已实现画像构建、资源生成等功能，后续需增强Agent能力与优化推荐算法。</a:t>
            </a:r>
          </a:p>
        </p:txBody>
      </p:sp>
      <p:sp>
        <p:nvSpPr>
          <p:cNvPr id="38" name="AutoShape 38"/>
          <p:cNvSpPr/>
          <p:nvPr/>
        </p:nvSpPr>
        <p:spPr>
          <a:xfrm>
            <a:off x="6223000" y="5778500"/>
            <a:ext cx="5207000" cy="889000"/>
          </a:xfrm>
          <a:prstGeom prst="roundRect">
            <a:avLst>
              <a:gd name="adj" fmla="val 1142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38100" dir="54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190500" tIns="127000" rIns="190500" bIns="127000" rtlCol="0" anchor="ctr" anchorCtr="0"/>
          <a:lstStyle/>
          <a:p>
            <a:pPr marL="0" indent="0" algn="ctr">
              <a:lnSpc>
                <a:spcPct val="108333"/>
              </a:lnSpc>
              <a:defRPr/>
            </a:pPr>
            <a:r>
              <a:rPr lang="en-US" sz="13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未来展望</a:t>
            </a:r>
            <a:endParaRPr lang="en-US" sz="1100"/>
          </a:p>
          <a:p>
            <a:pPr marL="0" indent="0" algn="ctr">
              <a:lnSpc>
                <a:spcPct val="108333"/>
              </a:lnSpc>
            </a:pPr>
            <a:r>
              <a:rPr lang="en-US" sz="11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优化Agent协同与内容质量，引入先进推荐算法实现精准服务，持续完善交互体验与系统性能。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2794000"/>
            <a:ext cx="1219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感谢聆听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0" y="3937000"/>
            <a:ext cx="1219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智学 — 一个个性化学习的探索原型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4953000"/>
            <a:ext cx="10160000" cy="1270000"/>
          </a:xfrm>
          <a:prstGeom prst="roundRect">
            <a:avLst>
              <a:gd name="adj" fmla="val 12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10B981">
                <a:alpha val="60000"/>
              </a:srgbClr>
            </a:solidFill>
            <a:prstDash val="solid"/>
            <a:round/>
          </a:ln>
          <a:effectLst>
            <a:outerShdw blurRad="2540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651000" y="5270500"/>
            <a:ext cx="406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联系方式：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business@zhixue-ai.com / +86 10-8888-9999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5342709">
            <a:off x="5715000" y="5581703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0B981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6604000" y="5270500"/>
            <a:ext cx="406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开源仓库：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github.com/zhixue-ai/edu-platform</a:t>
            </a:r>
            <a:endParaRPr lang="en-US" sz="110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724</Words>
  <Application>Microsoft Office PowerPoint</Application>
  <PresentationFormat>宽屏</PresentationFormat>
  <Paragraphs>199</Paragraphs>
  <Slides>16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16</vt:i4>
      </vt:variant>
    </vt:vector>
  </HeadingPairs>
  <TitlesOfParts>
    <vt:vector size="20" baseType="lpstr">
      <vt:lpstr>Noto Sans SC</vt:lpstr>
      <vt:lpstr>Arial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Alie</dc:creator>
  <cp:lastModifiedBy>日锴 何</cp:lastModifiedBy>
  <cp:revision>1</cp:revision>
  <dcterms:modified xsi:type="dcterms:W3CDTF">2026-06-05T06:15:02Z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{"Label":"1","ContentProducer":"001191110102MACQD9K64010000","ProduceID":"7647789529034361815","ReservedCode1":"","ContentPropagator":"","PropagateID":"","ReservedCode2":""}</vt:lpwstr>
  </property>
</Properties>
</file>